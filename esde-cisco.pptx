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E9164-FB92-FF45-26AE-BF39D294F777}" v="151" dt="2025-11-15T13:55:02.465"/>
    <p1510:client id="{D274E441-106C-F627-A6E0-F8B1A0166F8C}" v="95" dt="2025-11-14T15:24:27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0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7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6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8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2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5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4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38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9302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92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75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86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0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36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5" y="567267"/>
            <a:ext cx="9316724" cy="3329581"/>
          </a:xfrm>
        </p:spPr>
        <p:txBody>
          <a:bodyPr/>
          <a:lstStyle/>
          <a:p>
            <a:r>
              <a:rPr lang="es-ES"/>
              <a:t>Cisco </a:t>
            </a:r>
            <a:r>
              <a:rPr lang="es-ES" err="1"/>
              <a:t>Packet</a:t>
            </a:r>
            <a:r>
              <a:rPr lang="es-ES"/>
              <a:t> </a:t>
            </a:r>
            <a:r>
              <a:rPr lang="es-ES" err="1"/>
              <a:t>Tracer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By</a:t>
            </a:r>
            <a:r>
              <a:rPr lang="es-ES"/>
              <a:t>: </a:t>
            </a:r>
            <a:r>
              <a:rPr lang="es-ES" err="1"/>
              <a:t>Ivan</a:t>
            </a:r>
            <a:r>
              <a:rPr lang="es-ES"/>
              <a:t> </a:t>
            </a:r>
            <a:r>
              <a:rPr lang="es-ES" err="1"/>
              <a:t>galabov</a:t>
            </a:r>
            <a:r>
              <a:rPr lang="es-ES"/>
              <a:t> &amp; </a:t>
            </a:r>
            <a:r>
              <a:rPr lang="es-ES" err="1"/>
              <a:t>aleix</a:t>
            </a:r>
            <a:r>
              <a:rPr lang="es-ES"/>
              <a:t> Bossa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38C00-7C87-BD9C-120D-24B2B9F1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Table </a:t>
            </a:r>
            <a:r>
              <a:rPr lang="es-ES" err="1"/>
              <a:t>of</a:t>
            </a:r>
            <a:r>
              <a:rPr lang="es-ES"/>
              <a:t> Contents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5AC050-AF75-3A62-139D-6523E4806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Introduction</a:t>
            </a:r>
          </a:p>
          <a:p>
            <a:pPr>
              <a:buClr>
                <a:srgbClr val="8AD0D6"/>
              </a:buClr>
            </a:pPr>
            <a:r>
              <a:rPr lang="es-ES" err="1"/>
              <a:t>Devices</a:t>
            </a:r>
            <a:r>
              <a:rPr lang="es-ES"/>
              <a:t> &amp; </a:t>
            </a:r>
            <a:r>
              <a:rPr lang="es-ES" err="1"/>
              <a:t>Connections</a:t>
            </a:r>
          </a:p>
          <a:p>
            <a:pPr>
              <a:buClr>
                <a:srgbClr val="8AD0D6"/>
              </a:buClr>
            </a:pPr>
            <a:r>
              <a:rPr lang="es-ES"/>
              <a:t>Basic </a:t>
            </a:r>
            <a:r>
              <a:rPr lang="es-ES" err="1"/>
              <a:t>Networking</a:t>
            </a:r>
            <a:r>
              <a:rPr lang="es-ES"/>
              <a:t> </a:t>
            </a:r>
            <a:r>
              <a:rPr lang="es-ES" err="1"/>
              <a:t>Concepts</a:t>
            </a:r>
          </a:p>
          <a:p>
            <a:pPr>
              <a:buClr>
                <a:srgbClr val="8AD0D6"/>
              </a:buClr>
            </a:pPr>
            <a:r>
              <a:rPr lang="es-ES"/>
              <a:t>Network </a:t>
            </a:r>
            <a:r>
              <a:rPr lang="es-ES" err="1"/>
              <a:t>Services</a:t>
            </a:r>
          </a:p>
          <a:p>
            <a:pPr>
              <a:buClr>
                <a:srgbClr val="8AD0D6"/>
              </a:buClr>
            </a:pPr>
            <a:r>
              <a:rPr lang="es-ES" err="1"/>
              <a:t>Routing</a:t>
            </a:r>
            <a:r>
              <a:rPr lang="es-ES"/>
              <a:t> &amp; VLAN</a:t>
            </a:r>
          </a:p>
          <a:p>
            <a:pPr>
              <a:buClr>
                <a:srgbClr val="8AD0D6"/>
              </a:buClr>
            </a:pPr>
            <a:r>
              <a:rPr lang="es-ES" err="1"/>
              <a:t>Simulation</a:t>
            </a:r>
          </a:p>
          <a:p>
            <a:pPr>
              <a:buClr>
                <a:srgbClr val="8AD0D6"/>
              </a:buClr>
            </a:pPr>
            <a:r>
              <a:rPr lang="es-ES" err="1"/>
              <a:t>Wrap</a:t>
            </a:r>
            <a:r>
              <a:rPr lang="es-ES"/>
              <a:t> Up</a:t>
            </a:r>
          </a:p>
        </p:txBody>
      </p:sp>
    </p:spTree>
    <p:extLst>
      <p:ext uri="{BB962C8B-B14F-4D97-AF65-F5344CB8AC3E}">
        <p14:creationId xmlns:p14="http://schemas.microsoft.com/office/powerpoint/2010/main" val="277938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3717A-53DB-BAD6-9F38-29592CE4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Purpose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this</a:t>
            </a:r>
            <a:r>
              <a:rPr lang="es-ES"/>
              <a:t> Workshop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1F046A-1143-27D1-92BC-AB6341F4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>
                <a:ea typeface="+mj-lt"/>
                <a:cs typeface="+mj-lt"/>
              </a:rPr>
              <a:t>Understand core networking fundamentals</a:t>
            </a:r>
            <a:endParaRPr lang="en-GB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n-GB">
                <a:ea typeface="+mj-lt"/>
                <a:cs typeface="+mj-lt"/>
              </a:rPr>
              <a:t>Learn how devices communicate in a network</a:t>
            </a:r>
            <a:endParaRPr lang="en-GB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n-GB">
                <a:ea typeface="+mj-lt"/>
                <a:cs typeface="+mj-lt"/>
              </a:rPr>
              <a:t>Gain hands-on practice using Cisco Packet Tracer</a:t>
            </a:r>
            <a:endParaRPr lang="en-GB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n-GB">
                <a:ea typeface="+mj-lt"/>
                <a:cs typeface="+mj-lt"/>
              </a:rPr>
              <a:t>Connect concepts from Computer Architecture and Networking (CAN) with practical examples</a:t>
            </a:r>
            <a:endParaRPr lang="en-GB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n-GB">
                <a:ea typeface="+mj-lt"/>
                <a:cs typeface="+mj-lt"/>
              </a:rPr>
              <a:t>Build and test small networks in a safe simulation environment</a:t>
            </a:r>
            <a:endParaRPr lang="en-GB" u="sng"/>
          </a:p>
        </p:txBody>
      </p:sp>
    </p:spTree>
    <p:extLst>
      <p:ext uri="{BB962C8B-B14F-4D97-AF65-F5344CB8AC3E}">
        <p14:creationId xmlns:p14="http://schemas.microsoft.com/office/powerpoint/2010/main" val="12070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FAF8C-BB0E-67F5-F222-1F7923BD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Connection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CAN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645DC-B8C9-A3AE-4CC6-EC8FE37C1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712" y="2023285"/>
            <a:ext cx="9873640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ES">
                <a:ea typeface="+mj-lt"/>
                <a:cs typeface="+mj-lt"/>
              </a:rPr>
              <a:t>CAN </a:t>
            </a:r>
            <a:r>
              <a:rPr lang="es-ES" err="1">
                <a:ea typeface="+mj-lt"/>
                <a:cs typeface="+mj-lt"/>
              </a:rPr>
              <a:t>covers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how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computers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communicate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internally</a:t>
            </a:r>
            <a:r>
              <a:rPr lang="es-ES">
                <a:ea typeface="+mj-lt"/>
                <a:cs typeface="+mj-lt"/>
              </a:rPr>
              <a:t> (</a:t>
            </a:r>
            <a:r>
              <a:rPr lang="es-ES" err="1">
                <a:ea typeface="+mj-lt"/>
                <a:cs typeface="+mj-lt"/>
              </a:rPr>
              <a:t>architecture</a:t>
            </a:r>
            <a:r>
              <a:rPr lang="es-ES">
                <a:ea typeface="+mj-lt"/>
                <a:cs typeface="+mj-lt"/>
              </a:rPr>
              <a:t>) and </a:t>
            </a:r>
            <a:r>
              <a:rPr lang="es-ES" err="1">
                <a:ea typeface="+mj-lt"/>
                <a:cs typeface="+mj-lt"/>
              </a:rPr>
              <a:t>externally</a:t>
            </a:r>
            <a:r>
              <a:rPr lang="es-ES">
                <a:ea typeface="+mj-lt"/>
                <a:cs typeface="+mj-lt"/>
              </a:rPr>
              <a:t> (networks)</a:t>
            </a:r>
            <a:endParaRPr lang="es-ES" u="sng">
              <a:ea typeface="+mj-lt"/>
              <a:cs typeface="+mj-lt"/>
            </a:endParaRP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>
                <a:ea typeface="+mj-lt"/>
                <a:cs typeface="+mj-lt"/>
              </a:rPr>
              <a:t>Shows </a:t>
            </a:r>
            <a:r>
              <a:rPr lang="es-ES" err="1">
                <a:ea typeface="+mj-lt"/>
                <a:cs typeface="+mj-lt"/>
              </a:rPr>
              <a:t>how</a:t>
            </a:r>
            <a:r>
              <a:rPr lang="es-ES">
                <a:ea typeface="+mj-lt"/>
                <a:cs typeface="+mj-lt"/>
              </a:rPr>
              <a:t> hardware </a:t>
            </a:r>
            <a:r>
              <a:rPr lang="es-ES" err="1">
                <a:ea typeface="+mj-lt"/>
                <a:cs typeface="+mj-lt"/>
              </a:rPr>
              <a:t>components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interact</a:t>
            </a:r>
            <a:r>
              <a:rPr lang="es-ES">
                <a:ea typeface="+mj-lt"/>
                <a:cs typeface="+mj-lt"/>
              </a:rPr>
              <a:t> </a:t>
            </a:r>
            <a:r>
              <a:rPr lang="es-ES" err="1">
                <a:ea typeface="+mj-lt"/>
                <a:cs typeface="+mj-lt"/>
              </a:rPr>
              <a:t>with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network</a:t>
            </a:r>
            <a:r>
              <a:rPr lang="es-ES">
                <a:ea typeface="+mj-lt"/>
                <a:cs typeface="+mj-lt"/>
              </a:rPr>
              <a:t> devices</a:t>
            </a:r>
            <a:endParaRPr lang="es-ES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 err="1">
                <a:ea typeface="+mj-lt"/>
                <a:cs typeface="+mj-lt"/>
              </a:rPr>
              <a:t>Reinforces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key</a:t>
            </a:r>
            <a:r>
              <a:rPr lang="es-ES">
                <a:ea typeface="+mj-lt"/>
                <a:cs typeface="+mj-lt"/>
              </a:rPr>
              <a:t> CAN </a:t>
            </a:r>
            <a:r>
              <a:rPr lang="es-ES" err="1">
                <a:ea typeface="+mj-lt"/>
                <a:cs typeface="+mj-lt"/>
              </a:rPr>
              <a:t>concepts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like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addressing</a:t>
            </a:r>
            <a:r>
              <a:rPr lang="es-ES">
                <a:ea typeface="+mj-lt"/>
                <a:cs typeface="+mj-lt"/>
              </a:rPr>
              <a:t>, </a:t>
            </a:r>
            <a:r>
              <a:rPr lang="es-ES" err="1">
                <a:ea typeface="+mj-lt"/>
                <a:cs typeface="+mj-lt"/>
              </a:rPr>
              <a:t>routing</a:t>
            </a:r>
            <a:r>
              <a:rPr lang="es-ES">
                <a:ea typeface="+mj-lt"/>
                <a:cs typeface="+mj-lt"/>
              </a:rPr>
              <a:t>, </a:t>
            </a:r>
            <a:r>
              <a:rPr lang="es-ES" err="1">
                <a:ea typeface="+mj-lt"/>
                <a:cs typeface="+mj-lt"/>
              </a:rPr>
              <a:t>protocols</a:t>
            </a:r>
            <a:r>
              <a:rPr lang="es-ES">
                <a:ea typeface="+mj-lt"/>
                <a:cs typeface="+mj-lt"/>
              </a:rPr>
              <a:t>, OSI </a:t>
            </a:r>
            <a:r>
              <a:rPr lang="es-ES" err="1">
                <a:ea typeface="+mj-lt"/>
                <a:cs typeface="+mj-lt"/>
              </a:rPr>
              <a:t>layers</a:t>
            </a:r>
            <a:endParaRPr lang="es-ES" err="1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 err="1">
                <a:ea typeface="+mj-lt"/>
                <a:cs typeface="+mj-lt"/>
              </a:rPr>
              <a:t>Helps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understand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device</a:t>
            </a:r>
            <a:r>
              <a:rPr lang="es-ES">
                <a:ea typeface="+mj-lt"/>
                <a:cs typeface="+mj-lt"/>
              </a:rPr>
              <a:t> roles: </a:t>
            </a:r>
            <a:r>
              <a:rPr lang="es-ES" err="1">
                <a:ea typeface="+mj-lt"/>
                <a:cs typeface="+mj-lt"/>
              </a:rPr>
              <a:t>routers</a:t>
            </a:r>
            <a:r>
              <a:rPr lang="es-ES">
                <a:ea typeface="+mj-lt"/>
                <a:cs typeface="+mj-lt"/>
              </a:rPr>
              <a:t>, switches, servers</a:t>
            </a:r>
            <a:endParaRPr lang="es-ES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>
                <a:ea typeface="+mj-lt"/>
                <a:cs typeface="+mj-lt"/>
              </a:rPr>
              <a:t>Link CAN </a:t>
            </a:r>
            <a:r>
              <a:rPr lang="es-ES" err="1">
                <a:ea typeface="+mj-lt"/>
                <a:cs typeface="+mj-lt"/>
              </a:rPr>
              <a:t>theory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with</a:t>
            </a:r>
            <a:r>
              <a:rPr lang="es-ES">
                <a:ea typeface="+mj-lt"/>
                <a:cs typeface="+mj-lt"/>
              </a:rPr>
              <a:t> real </a:t>
            </a:r>
            <a:r>
              <a:rPr lang="es-ES" err="1">
                <a:ea typeface="+mj-lt"/>
                <a:cs typeface="+mj-lt"/>
              </a:rPr>
              <a:t>world</a:t>
            </a:r>
            <a:r>
              <a:rPr lang="es-ES">
                <a:ea typeface="+mj-lt"/>
                <a:cs typeface="+mj-lt"/>
              </a:rPr>
              <a:t> </a:t>
            </a:r>
            <a:r>
              <a:rPr lang="es-ES" err="1">
                <a:ea typeface="+mj-lt"/>
                <a:cs typeface="+mj-lt"/>
              </a:rPr>
              <a:t>examples</a:t>
            </a:r>
            <a:endParaRPr lang="es-ES" err="1"/>
          </a:p>
          <a:p>
            <a:pPr>
              <a:lnSpc>
                <a:spcPct val="150000"/>
              </a:lnSpc>
              <a:buClr>
                <a:srgbClr val="8AD0D6"/>
              </a:buClr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6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77A38-5E4F-7BF8-F82F-7A50D3E2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What</a:t>
            </a:r>
            <a:r>
              <a:rPr lang="es-ES"/>
              <a:t> </a:t>
            </a:r>
            <a:r>
              <a:rPr lang="es-ES" err="1"/>
              <a:t>is</a:t>
            </a:r>
            <a:r>
              <a:rPr lang="es-ES"/>
              <a:t> Cisco </a:t>
            </a:r>
            <a:r>
              <a:rPr lang="es-ES" err="1"/>
              <a:t>Packet</a:t>
            </a:r>
            <a:r>
              <a:rPr lang="es-ES"/>
              <a:t> </a:t>
            </a:r>
            <a:r>
              <a:rPr lang="es-ES" err="1"/>
              <a:t>Tracer</a:t>
            </a:r>
            <a:r>
              <a:rPr lang="es-ES"/>
              <a:t> 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E5E76-F3E4-3233-71FA-A95C47941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112184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ES"/>
              <a:t>Network </a:t>
            </a:r>
            <a:r>
              <a:rPr lang="es-ES" err="1"/>
              <a:t>simulation</a:t>
            </a:r>
            <a:r>
              <a:rPr lang="es-ES"/>
              <a:t> and </a:t>
            </a:r>
            <a:r>
              <a:rPr lang="es-ES" err="1"/>
              <a:t>visualization</a:t>
            </a:r>
            <a:r>
              <a:rPr lang="es-ES"/>
              <a:t> </a:t>
            </a:r>
            <a:r>
              <a:rPr lang="es-ES" err="1"/>
              <a:t>tool</a:t>
            </a:r>
            <a:r>
              <a:rPr lang="es-ES"/>
              <a:t> </a:t>
            </a:r>
            <a:r>
              <a:rPr lang="es-ES" err="1"/>
              <a:t>from</a:t>
            </a:r>
            <a:r>
              <a:rPr lang="es-ES"/>
              <a:t> CISCO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 err="1"/>
              <a:t>Allows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build</a:t>
            </a:r>
            <a:r>
              <a:rPr lang="es-ES"/>
              <a:t> </a:t>
            </a:r>
            <a:r>
              <a:rPr lang="es-ES" err="1"/>
              <a:t>networks</a:t>
            </a:r>
            <a:r>
              <a:rPr lang="es-ES"/>
              <a:t> </a:t>
            </a:r>
            <a:r>
              <a:rPr lang="es-ES" err="1"/>
              <a:t>using</a:t>
            </a:r>
            <a:r>
              <a:rPr lang="es-ES"/>
              <a:t> virtual </a:t>
            </a:r>
            <a:r>
              <a:rPr lang="es-ES" err="1"/>
              <a:t>devices</a:t>
            </a:r>
            <a:r>
              <a:rPr lang="es-ES"/>
              <a:t> (switches, servers, </a:t>
            </a:r>
            <a:r>
              <a:rPr lang="es-ES" err="1"/>
              <a:t>routers</a:t>
            </a:r>
            <a:r>
              <a:rPr lang="es-ES"/>
              <a:t>)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 err="1"/>
              <a:t>Provides</a:t>
            </a:r>
            <a:r>
              <a:rPr lang="es-ES"/>
              <a:t> real time </a:t>
            </a:r>
            <a:r>
              <a:rPr lang="es-ES" err="1"/>
              <a:t>visualization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packet</a:t>
            </a:r>
            <a:r>
              <a:rPr lang="es-ES"/>
              <a:t> </a:t>
            </a:r>
            <a:r>
              <a:rPr lang="es-ES" err="1"/>
              <a:t>flow</a:t>
            </a:r>
            <a:endParaRPr lang="es-ES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/>
              <a:t>Interactive </a:t>
            </a:r>
            <a:r>
              <a:rPr lang="es-ES" err="1"/>
              <a:t>environment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configure and test </a:t>
            </a:r>
            <a:r>
              <a:rPr lang="es-ES" err="1"/>
              <a:t>networking</a:t>
            </a:r>
            <a:r>
              <a:rPr lang="es-ES"/>
              <a:t> </a:t>
            </a:r>
            <a:r>
              <a:rPr lang="es-ES" err="1"/>
              <a:t>concepts</a:t>
            </a:r>
            <a:endParaRPr lang="es-ES"/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 err="1"/>
              <a:t>Requires</a:t>
            </a:r>
            <a:r>
              <a:rPr lang="es-ES"/>
              <a:t> no </a:t>
            </a:r>
            <a:r>
              <a:rPr lang="es-ES" err="1"/>
              <a:t>physical</a:t>
            </a:r>
            <a:r>
              <a:rPr lang="es-ES"/>
              <a:t> hardware</a:t>
            </a:r>
          </a:p>
        </p:txBody>
      </p:sp>
      <p:pic>
        <p:nvPicPr>
          <p:cNvPr id="4" name="Imagen 3" descr="Cisco Packet Tracer Overview - Startertutorials Blog">
            <a:extLst>
              <a:ext uri="{FF2B5EF4-FFF2-40B4-BE49-F238E27FC236}">
                <a16:creationId xmlns:a16="http://schemas.microsoft.com/office/drawing/2014/main" id="{A2EA18D3-D7F4-7D4C-3EDF-99146AA3E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92" y="1634596"/>
            <a:ext cx="241935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6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17E39-5C9D-CD8A-B8FC-5907F1A8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Why Cisco Packet Tracer?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91C62D-4AF6-F5DA-0342-431BD7E39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951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ES"/>
              <a:t>Makes abstract networking concepts </a:t>
            </a:r>
            <a:r>
              <a:rPr lang="es-ES" b="1"/>
              <a:t>visual </a:t>
            </a:r>
            <a:r>
              <a:rPr lang="es-ES"/>
              <a:t>and </a:t>
            </a:r>
            <a:r>
              <a:rPr lang="es-ES" b="1"/>
              <a:t>intuitive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/>
              <a:t>Allows to see protocols like </a:t>
            </a:r>
            <a:r>
              <a:rPr lang="es-ES" b="1"/>
              <a:t>ARP</a:t>
            </a:r>
            <a:r>
              <a:rPr lang="es-ES"/>
              <a:t>, </a:t>
            </a:r>
            <a:r>
              <a:rPr lang="es-ES" b="1"/>
              <a:t>DNS </a:t>
            </a:r>
            <a:r>
              <a:rPr lang="es-ES"/>
              <a:t>or </a:t>
            </a:r>
            <a:r>
              <a:rPr lang="es-ES" b="1"/>
              <a:t>DHCP </a:t>
            </a:r>
            <a:r>
              <a:rPr lang="es-ES"/>
              <a:t>in action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/>
              <a:t>Useful for </a:t>
            </a:r>
            <a:r>
              <a:rPr lang="es-ES" b="1"/>
              <a:t>experimenting </a:t>
            </a:r>
            <a:r>
              <a:rPr lang="es-ES"/>
              <a:t>with:</a:t>
            </a:r>
          </a:p>
          <a:p>
            <a:pPr lvl="1">
              <a:lnSpc>
                <a:spcPct val="150000"/>
              </a:lnSpc>
              <a:buClr>
                <a:srgbClr val="8AD0D6"/>
              </a:buClr>
              <a:buFont typeface="Calibri,Sans-Serif" charset="2"/>
              <a:buChar char="-"/>
            </a:pPr>
            <a:r>
              <a:rPr lang="es-ES"/>
              <a:t>IP addressing</a:t>
            </a:r>
            <a:endParaRPr lang="en-US"/>
          </a:p>
          <a:p>
            <a:pPr lvl="1">
              <a:lnSpc>
                <a:spcPct val="150000"/>
              </a:lnSpc>
              <a:buClr>
                <a:srgbClr val="8AD0D6"/>
              </a:buClr>
              <a:buFont typeface="Calibri,Sans-Serif" charset="2"/>
              <a:buChar char="-"/>
            </a:pPr>
            <a:r>
              <a:rPr lang="es-ES"/>
              <a:t>LAN setups</a:t>
            </a:r>
            <a:endParaRPr lang="en-US"/>
          </a:p>
          <a:p>
            <a:pPr lvl="1">
              <a:lnSpc>
                <a:spcPct val="150000"/>
              </a:lnSpc>
              <a:buClr>
                <a:srgbClr val="8AD0D6"/>
              </a:buClr>
              <a:buFont typeface="Calibri,Sans-Serif" charset="2"/>
              <a:buChar char="-"/>
            </a:pPr>
            <a:r>
              <a:rPr lang="es-ES"/>
              <a:t>Networking services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r>
              <a:rPr lang="es-ES"/>
              <a:t>Safe environment</a:t>
            </a:r>
          </a:p>
          <a:p>
            <a:pPr>
              <a:lnSpc>
                <a:spcPct val="150000"/>
              </a:lnSpc>
              <a:buClr>
                <a:srgbClr val="8AD0D6"/>
              </a:buClr>
            </a:pPr>
            <a:endParaRPr lang="es-ES"/>
          </a:p>
          <a:p>
            <a:pPr marL="457200" lvl="1" indent="0">
              <a:buClr>
                <a:srgbClr val="8AD0D6"/>
              </a:buClr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46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6259D-F5C2-EA16-7401-2525AFC0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Network hardware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831374-2624-6D4A-7A1E-F8D7997FF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212" y="1299385"/>
            <a:ext cx="10313907" cy="500404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Clr>
                <a:srgbClr val="8AD0D6"/>
              </a:buClr>
              <a:buNone/>
            </a:pPr>
            <a:endParaRPr lang="es-ES"/>
          </a:p>
          <a:p>
            <a:pPr>
              <a:buClr>
                <a:srgbClr val="8AD0D6"/>
              </a:buClr>
            </a:pPr>
            <a:r>
              <a:rPr lang="es-ES" b="1"/>
              <a:t>Hubs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Broadcast data to </a:t>
            </a:r>
            <a:r>
              <a:rPr lang="es-ES" b="1"/>
              <a:t>ALL </a:t>
            </a:r>
            <a:r>
              <a:rPr lang="es-ES"/>
              <a:t>connected devices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No understanding of MAC or IP addresses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Low efficiency, no traffic management</a:t>
            </a:r>
          </a:p>
          <a:p>
            <a:pPr>
              <a:buClr>
                <a:srgbClr val="8AD0D6"/>
              </a:buClr>
            </a:pPr>
            <a:r>
              <a:rPr lang="es-ES" b="1"/>
              <a:t>Switches</a:t>
            </a:r>
            <a:endParaRPr lang="en-US" b="1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Connect devices within the same LAN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Forward data using MAC addresses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Traffic goes only to correct destination device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Faster and more secure than hubs</a:t>
            </a:r>
          </a:p>
          <a:p>
            <a:pPr>
              <a:buClr>
                <a:srgbClr val="8AD0D6"/>
              </a:buClr>
            </a:pPr>
            <a:r>
              <a:rPr lang="es-ES" b="1"/>
              <a:t>Routers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Connect different networks together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Forward packets using IP addresses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Determine where each packet needs to go (routing)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endParaRPr lang="es-ES"/>
          </a:p>
          <a:p>
            <a:pPr>
              <a:buClr>
                <a:srgbClr val="8AD0D6"/>
              </a:buClr>
            </a:pPr>
            <a:endParaRPr lang="es-ES"/>
          </a:p>
        </p:txBody>
      </p:sp>
      <p:pic>
        <p:nvPicPr>
          <p:cNvPr id="5" name="Imagen 4" descr="Why We Don't Use Hubs Anymore – The Cybersecurity Man">
            <a:extLst>
              <a:ext uri="{FF2B5EF4-FFF2-40B4-BE49-F238E27FC236}">
                <a16:creationId xmlns:a16="http://schemas.microsoft.com/office/drawing/2014/main" id="{E494CB62-9052-90CC-7048-9F91A7271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033" y="929939"/>
            <a:ext cx="3134370" cy="1838222"/>
          </a:xfrm>
          <a:prstGeom prst="rect">
            <a:avLst/>
          </a:prstGeom>
        </p:spPr>
      </p:pic>
      <p:pic>
        <p:nvPicPr>
          <p:cNvPr id="7" name="Marcador de contenido 9" descr="What Is a Network Switch?">
            <a:extLst>
              <a:ext uri="{FF2B5EF4-FFF2-40B4-BE49-F238E27FC236}">
                <a16:creationId xmlns:a16="http://schemas.microsoft.com/office/drawing/2014/main" id="{6C695FC7-B997-1ED8-09B8-273919D1D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578" y="3205566"/>
            <a:ext cx="3114675" cy="1466850"/>
          </a:xfrm>
          <a:prstGeom prst="rect">
            <a:avLst/>
          </a:prstGeom>
        </p:spPr>
      </p:pic>
      <p:pic>
        <p:nvPicPr>
          <p:cNvPr id="9" name="Imagen 8" descr="What Is a Router and How Does It Work?">
            <a:extLst>
              <a:ext uri="{FF2B5EF4-FFF2-40B4-BE49-F238E27FC236}">
                <a16:creationId xmlns:a16="http://schemas.microsoft.com/office/drawing/2014/main" id="{D5599805-969F-3DE0-43E9-FDD945209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479" y="4785255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5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B50E2-CD5E-38CB-155D-B51B6CD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Transmission media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54732-99FD-8C6A-4A8F-942F81E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068" y="1715284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Copper</a:t>
            </a:r>
            <a:r>
              <a:rPr lang="es-ES"/>
              <a:t> cables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err="1"/>
              <a:t>Most</a:t>
            </a:r>
            <a:r>
              <a:rPr lang="es-ES"/>
              <a:t> </a:t>
            </a:r>
            <a:r>
              <a:rPr lang="es-ES" err="1"/>
              <a:t>common</a:t>
            </a:r>
            <a:r>
              <a:rPr lang="es-ES"/>
              <a:t> in </a:t>
            </a:r>
            <a:r>
              <a:rPr lang="es-ES" err="1"/>
              <a:t>LANs</a:t>
            </a:r>
          </a:p>
          <a:p>
            <a:pPr>
              <a:buClr>
                <a:srgbClr val="8AD0D6"/>
              </a:buClr>
            </a:pPr>
            <a:r>
              <a:rPr lang="es-ES" err="1"/>
              <a:t>Fiber</a:t>
            </a:r>
            <a:r>
              <a:rPr lang="es-ES"/>
              <a:t> </a:t>
            </a:r>
            <a:r>
              <a:rPr lang="es-ES" err="1"/>
              <a:t>optic</a:t>
            </a:r>
            <a:r>
              <a:rPr lang="es-ES"/>
              <a:t> cables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High </a:t>
            </a:r>
            <a:r>
              <a:rPr lang="es-ES" err="1"/>
              <a:t>speed</a:t>
            </a:r>
            <a:r>
              <a:rPr lang="es-ES"/>
              <a:t>, </a:t>
            </a:r>
            <a:r>
              <a:rPr lang="es-ES" err="1"/>
              <a:t>long</a:t>
            </a:r>
            <a:r>
              <a:rPr lang="es-ES"/>
              <a:t> </a:t>
            </a:r>
            <a:r>
              <a:rPr lang="es-ES" err="1"/>
              <a:t>distance</a:t>
            </a:r>
            <a:r>
              <a:rPr lang="es-ES"/>
              <a:t> </a:t>
            </a:r>
            <a:r>
              <a:rPr lang="es-ES" err="1"/>
              <a:t>connections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routers</a:t>
            </a:r>
            <a:r>
              <a:rPr lang="es-ES"/>
              <a:t> </a:t>
            </a:r>
            <a:r>
              <a:rPr lang="es-ES" err="1"/>
              <a:t>or</a:t>
            </a:r>
            <a:r>
              <a:rPr lang="es-ES"/>
              <a:t> switches</a:t>
            </a:r>
          </a:p>
          <a:p>
            <a:pPr>
              <a:buClr>
                <a:srgbClr val="8AD0D6"/>
              </a:buClr>
            </a:pPr>
            <a:r>
              <a:rPr lang="es-ES"/>
              <a:t>Wireless </a:t>
            </a:r>
            <a:r>
              <a:rPr lang="es-ES" err="1"/>
              <a:t>connections</a:t>
            </a:r>
          </a:p>
        </p:txBody>
      </p:sp>
      <p:pic>
        <p:nvPicPr>
          <p:cNvPr id="4" name="Imagen 3" descr="FIBRE VS COPPER - Linxcom UK">
            <a:extLst>
              <a:ext uri="{FF2B5EF4-FFF2-40B4-BE49-F238E27FC236}">
                <a16:creationId xmlns:a16="http://schemas.microsoft.com/office/drawing/2014/main" id="{92CF52BB-EE70-0E55-832F-EB42B9C9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92" y="3430511"/>
            <a:ext cx="4750755" cy="31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20B40-4B18-4FD8-3654-AC0EAFE4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Common Physical Topologies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63E71-9671-8583-1A4B-CD367D489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312" y="1854200"/>
            <a:ext cx="4980539" cy="41396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Star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All devices connect to a central switch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Easy to manage and expand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Failure of one cable does not affect others</a:t>
            </a:r>
          </a:p>
          <a:p>
            <a:pPr>
              <a:buClr>
                <a:srgbClr val="8AD0D6"/>
              </a:buClr>
            </a:pPr>
            <a:r>
              <a:rPr lang="es-ES"/>
              <a:t>Bus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All devices share one main cable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Simple but outdated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/>
              <a:t>If cable breaks it brings network down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656D3E-28EC-514D-B154-4F089C0B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42362" y="1854200"/>
            <a:ext cx="6005005" cy="44190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Mesh</a:t>
            </a:r>
            <a:endParaRPr lang="en-US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Devices are interconnected with multiple paths</a:t>
            </a:r>
            <a:endParaRPr lang="en-US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High redundancy level (reliable)</a:t>
            </a:r>
            <a:endParaRPr lang="en-US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Large or </a:t>
            </a:r>
            <a:r>
              <a:rPr lang="es-ES" u="sng"/>
              <a:t>critical</a:t>
            </a:r>
            <a:r>
              <a:rPr lang="es-ES"/>
              <a:t> networks (internet)</a:t>
            </a:r>
          </a:p>
          <a:p>
            <a:pPr>
              <a:buClr>
                <a:srgbClr val="8AD0D6"/>
              </a:buClr>
            </a:pPr>
            <a:r>
              <a:rPr lang="es-ES"/>
              <a:t>Ring</a:t>
            </a:r>
            <a:endParaRPr lang="es-ES" u="sng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Devices connected in a circular path</a:t>
            </a:r>
            <a:endParaRPr lang="en-US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Data flows only in one direction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Legacy systems</a:t>
            </a:r>
          </a:p>
          <a:p>
            <a:pPr>
              <a:buClr>
                <a:srgbClr val="8AD0D6"/>
              </a:buClr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10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85DCC-762F-9ACF-5C3F-9667CE73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LAN vs WAN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49721C-DC4F-6F7D-EE5C-0A6F416F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14251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LAN</a:t>
            </a:r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 err="1"/>
              <a:t>Covers</a:t>
            </a:r>
            <a:r>
              <a:rPr lang="es-ES"/>
              <a:t> </a:t>
            </a:r>
            <a:r>
              <a:rPr lang="es-ES" err="1"/>
              <a:t>small</a:t>
            </a:r>
            <a:r>
              <a:rPr lang="es-ES"/>
              <a:t> </a:t>
            </a:r>
            <a:r>
              <a:rPr lang="es-ES" err="1"/>
              <a:t>area</a:t>
            </a:r>
            <a:r>
              <a:rPr lang="es-ES"/>
              <a:t> (</a:t>
            </a:r>
            <a:r>
              <a:rPr lang="es-ES" err="1"/>
              <a:t>building</a:t>
            </a:r>
            <a:r>
              <a:rPr lang="es-ES"/>
              <a:t>, </a:t>
            </a:r>
            <a:r>
              <a:rPr lang="es-ES" err="1"/>
              <a:t>room</a:t>
            </a:r>
            <a:r>
              <a:rPr lang="es-ES"/>
              <a:t>, campus)</a:t>
            </a:r>
            <a:endParaRPr lang="en-US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 err="1"/>
              <a:t>Connects</a:t>
            </a:r>
            <a:r>
              <a:rPr lang="es-ES"/>
              <a:t> </a:t>
            </a:r>
            <a:r>
              <a:rPr lang="es-ES" err="1"/>
              <a:t>devices</a:t>
            </a:r>
            <a:r>
              <a:rPr lang="es-ES"/>
              <a:t> </a:t>
            </a:r>
            <a:r>
              <a:rPr lang="es-ES" err="1"/>
              <a:t>like</a:t>
            </a:r>
            <a:r>
              <a:rPr lang="es-ES"/>
              <a:t> </a:t>
            </a:r>
            <a:r>
              <a:rPr lang="es-ES" err="1"/>
              <a:t>PCs</a:t>
            </a:r>
            <a:r>
              <a:rPr lang="es-ES"/>
              <a:t>, </a:t>
            </a:r>
            <a:r>
              <a:rPr lang="es-ES" err="1"/>
              <a:t>printers</a:t>
            </a:r>
            <a:endParaRPr lang="en-US" err="1"/>
          </a:p>
          <a:p>
            <a:pPr lvl="1">
              <a:buClr>
                <a:srgbClr val="8AD0D6"/>
              </a:buClr>
              <a:buFont typeface="Courier New,monospace" charset="2"/>
              <a:buChar char="o"/>
            </a:pPr>
            <a:r>
              <a:rPr lang="es-ES"/>
              <a:t>High </a:t>
            </a:r>
            <a:r>
              <a:rPr lang="es-ES" err="1"/>
              <a:t>speed</a:t>
            </a:r>
            <a:r>
              <a:rPr lang="es-ES"/>
              <a:t>, </a:t>
            </a:r>
            <a:r>
              <a:rPr lang="es-ES" err="1"/>
              <a:t>low</a:t>
            </a:r>
            <a:r>
              <a:rPr lang="es-ES"/>
              <a:t> </a:t>
            </a:r>
            <a:r>
              <a:rPr lang="es-ES" err="1"/>
              <a:t>cost</a:t>
            </a:r>
            <a:r>
              <a:rPr lang="es-ES"/>
              <a:t>, </a:t>
            </a:r>
            <a:r>
              <a:rPr lang="es-ES" err="1"/>
              <a:t>managed</a:t>
            </a:r>
            <a:r>
              <a:rPr lang="es-ES"/>
              <a:t> </a:t>
            </a:r>
            <a:r>
              <a:rPr lang="es-ES" err="1"/>
              <a:t>privately</a:t>
            </a:r>
            <a:endParaRPr lang="es-ES"/>
          </a:p>
          <a:p>
            <a:pPr>
              <a:buClr>
                <a:srgbClr val="8AD0D6"/>
              </a:buClr>
            </a:pPr>
            <a:r>
              <a:rPr lang="es-ES"/>
              <a:t>WAN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err="1"/>
              <a:t>Large</a:t>
            </a:r>
            <a:r>
              <a:rPr lang="es-ES"/>
              <a:t> </a:t>
            </a:r>
            <a:r>
              <a:rPr lang="es-ES" err="1"/>
              <a:t>geographical</a:t>
            </a:r>
            <a:r>
              <a:rPr lang="es-ES"/>
              <a:t> </a:t>
            </a:r>
            <a:r>
              <a:rPr lang="es-ES" err="1"/>
              <a:t>area</a:t>
            </a:r>
            <a:r>
              <a:rPr lang="es-ES"/>
              <a:t> (</a:t>
            </a:r>
            <a:r>
              <a:rPr lang="es-ES" err="1"/>
              <a:t>cities</a:t>
            </a:r>
            <a:r>
              <a:rPr lang="es-ES"/>
              <a:t>, </a:t>
            </a:r>
            <a:r>
              <a:rPr lang="es-ES" err="1"/>
              <a:t>countries</a:t>
            </a:r>
            <a:r>
              <a:rPr lang="es-ES"/>
              <a:t>)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err="1"/>
              <a:t>Connects</a:t>
            </a:r>
            <a:r>
              <a:rPr lang="es-ES"/>
              <a:t> </a:t>
            </a:r>
            <a:r>
              <a:rPr lang="es-ES" err="1"/>
              <a:t>multiple</a:t>
            </a:r>
            <a:r>
              <a:rPr lang="es-ES"/>
              <a:t> </a:t>
            </a:r>
            <a:r>
              <a:rPr lang="es-ES" err="1"/>
              <a:t>LANs</a:t>
            </a:r>
            <a:r>
              <a:rPr lang="es-ES"/>
              <a:t> </a:t>
            </a:r>
            <a:r>
              <a:rPr lang="es-ES" err="1"/>
              <a:t>together</a:t>
            </a:r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err="1"/>
              <a:t>Slower</a:t>
            </a:r>
            <a:r>
              <a:rPr lang="es-ES"/>
              <a:t>, </a:t>
            </a:r>
            <a:r>
              <a:rPr lang="es-ES" err="1"/>
              <a:t>high</a:t>
            </a:r>
            <a:r>
              <a:rPr lang="es-ES"/>
              <a:t> </a:t>
            </a:r>
            <a:r>
              <a:rPr lang="es-ES" err="1"/>
              <a:t>costs</a:t>
            </a:r>
            <a:r>
              <a:rPr lang="es-ES"/>
              <a:t>, </a:t>
            </a:r>
            <a:r>
              <a:rPr lang="es-ES" err="1"/>
              <a:t>managed</a:t>
            </a:r>
            <a:r>
              <a:rPr lang="es-ES"/>
              <a:t> </a:t>
            </a:r>
            <a:r>
              <a:rPr lang="es-ES" err="1"/>
              <a:t>by</a:t>
            </a:r>
            <a:r>
              <a:rPr lang="es-ES"/>
              <a:t> ISP (Internet </a:t>
            </a:r>
            <a:r>
              <a:rPr lang="es-ES" err="1"/>
              <a:t>Service</a:t>
            </a:r>
            <a:r>
              <a:rPr lang="es-ES"/>
              <a:t> </a:t>
            </a:r>
            <a:r>
              <a:rPr lang="es-ES" err="1"/>
              <a:t>Provider</a:t>
            </a:r>
            <a:r>
              <a:rPr lang="es-E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835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CF9F74-8BA8-4D73-21F8-76D7D5E0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EBEBEB"/>
                </a:solidFill>
              </a:rPr>
              <a:t>OSI </a:t>
            </a:r>
            <a:r>
              <a:rPr lang="es-ES" err="1">
                <a:solidFill>
                  <a:srgbClr val="EBEBEB"/>
                </a:solidFill>
              </a:rPr>
              <a:t>model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Marcador de contenido 3" descr="OSI Model – Practical Networking .net">
            <a:extLst>
              <a:ext uri="{FF2B5EF4-FFF2-40B4-BE49-F238E27FC236}">
                <a16:creationId xmlns:a16="http://schemas.microsoft.com/office/drawing/2014/main" id="{0A22CB2A-4D27-823B-CABB-EDA1CD36D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539" y="1257298"/>
            <a:ext cx="3837693" cy="4906435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E45B98-0712-FF5F-7BEA-60D047E48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Explains how data travels through a network</a:t>
            </a:r>
          </a:p>
        </p:txBody>
      </p:sp>
    </p:spTree>
    <p:extLst>
      <p:ext uri="{BB962C8B-B14F-4D97-AF65-F5344CB8AC3E}">
        <p14:creationId xmlns:p14="http://schemas.microsoft.com/office/powerpoint/2010/main" val="166918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5D805-44D0-5C92-F60A-348C4597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Address</a:t>
            </a:r>
            <a:r>
              <a:rPr lang="es-ES"/>
              <a:t> </a:t>
            </a:r>
            <a:r>
              <a:rPr lang="es-ES" err="1"/>
              <a:t>Resolution</a:t>
            </a:r>
            <a:r>
              <a:rPr lang="es-ES"/>
              <a:t> </a:t>
            </a:r>
            <a:r>
              <a:rPr lang="es-ES" err="1"/>
              <a:t>Protocol</a:t>
            </a:r>
            <a:r>
              <a:rPr lang="es-ES"/>
              <a:t> (ARP)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48FCCE-AA2B-A36F-FA3F-D0ABEB25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Translates</a:t>
            </a:r>
            <a:r>
              <a:rPr lang="es-ES"/>
              <a:t> IP </a:t>
            </a:r>
            <a:r>
              <a:rPr lang="es-ES" err="1"/>
              <a:t>addresses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MAC </a:t>
            </a:r>
            <a:r>
              <a:rPr lang="es-ES" err="1"/>
              <a:t>addresses</a:t>
            </a:r>
            <a:endParaRPr lang="es-ES"/>
          </a:p>
          <a:p>
            <a:pPr>
              <a:buClr>
                <a:srgbClr val="8AD0D6"/>
              </a:buClr>
            </a:pPr>
            <a:r>
              <a:rPr lang="es-ES" err="1"/>
              <a:t>Enables</a:t>
            </a:r>
            <a:r>
              <a:rPr lang="es-ES"/>
              <a:t> </a:t>
            </a:r>
            <a:r>
              <a:rPr lang="es-ES" err="1"/>
              <a:t>communication</a:t>
            </a:r>
            <a:r>
              <a:rPr lang="es-ES"/>
              <a:t> </a:t>
            </a:r>
            <a:r>
              <a:rPr lang="es-ES" err="1"/>
              <a:t>within</a:t>
            </a:r>
            <a:r>
              <a:rPr lang="es-ES"/>
              <a:t> a LAN</a:t>
            </a:r>
          </a:p>
          <a:p>
            <a:pPr>
              <a:buClr>
                <a:srgbClr val="8AD0D6"/>
              </a:buClr>
            </a:pPr>
            <a:endParaRPr lang="es-ES" u="sng"/>
          </a:p>
        </p:txBody>
      </p:sp>
    </p:spTree>
    <p:extLst>
      <p:ext uri="{BB962C8B-B14F-4D97-AF65-F5344CB8AC3E}">
        <p14:creationId xmlns:p14="http://schemas.microsoft.com/office/powerpoint/2010/main" val="2648345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93F8E-B414-3E65-A065-9E265BB6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Routing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Protocol</a:t>
            </a:r>
            <a:r>
              <a:rPr lang="es-ES" dirty="0"/>
              <a:t> (RIP)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F757F-8D00-106B-3FD1-A9B41F87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Dynamic </a:t>
            </a:r>
            <a:r>
              <a:rPr lang="es-ES" dirty="0" err="1"/>
              <a:t>routing</a:t>
            </a:r>
            <a:r>
              <a:rPr lang="es-ES" dirty="0"/>
              <a:t> </a:t>
            </a:r>
            <a:r>
              <a:rPr lang="es-ES" dirty="0" err="1"/>
              <a:t>protocol</a:t>
            </a:r>
            <a:r>
              <a:rPr lang="es-ES" dirty="0"/>
              <a:t> </a:t>
            </a:r>
            <a:r>
              <a:rPr lang="es-ES" dirty="0" err="1"/>
              <a:t>used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share </a:t>
            </a:r>
            <a:r>
              <a:rPr lang="es-ES" dirty="0" err="1"/>
              <a:t>routing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routers</a:t>
            </a:r>
            <a:endParaRPr lang="es-ES"/>
          </a:p>
          <a:p>
            <a:pPr>
              <a:buClr>
                <a:srgbClr val="8AD0D6"/>
              </a:buClr>
            </a:pPr>
            <a:r>
              <a:rPr lang="es-ES" dirty="0" err="1">
                <a:ea typeface="+mj-lt"/>
                <a:cs typeface="+mj-lt"/>
              </a:rPr>
              <a:t>Allows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routers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to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automatically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learn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the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best</a:t>
            </a:r>
            <a:r>
              <a:rPr lang="es-ES" dirty="0">
                <a:ea typeface="+mj-lt"/>
                <a:cs typeface="+mj-lt"/>
              </a:rPr>
              <a:t> </a:t>
            </a:r>
            <a:r>
              <a:rPr lang="es-ES" dirty="0" err="1">
                <a:ea typeface="+mj-lt"/>
                <a:cs typeface="+mj-lt"/>
              </a:rPr>
              <a:t>paths</a:t>
            </a:r>
            <a:endParaRPr lang="es-ES" dirty="0"/>
          </a:p>
          <a:p>
            <a:pPr>
              <a:buClr>
                <a:srgbClr val="8AD0D6"/>
              </a:buClr>
            </a:pPr>
            <a:r>
              <a:rPr lang="es-ES" dirty="0"/>
              <a:t>Uses hop </a:t>
            </a:r>
            <a:r>
              <a:rPr lang="es-ES" dirty="0" err="1"/>
              <a:t>count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identify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best</a:t>
            </a:r>
            <a:r>
              <a:rPr lang="es-ES" dirty="0"/>
              <a:t> </a:t>
            </a:r>
            <a:r>
              <a:rPr lang="es-ES" dirty="0" err="1"/>
              <a:t>path</a:t>
            </a:r>
            <a:endParaRPr lang="es-ES" dirty="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dirty="0"/>
              <a:t>1 hop = 1 </a:t>
            </a:r>
            <a:r>
              <a:rPr lang="es-ES" dirty="0" err="1"/>
              <a:t>router</a:t>
            </a:r>
            <a:r>
              <a:rPr lang="es-ES" dirty="0"/>
              <a:t> </a:t>
            </a:r>
            <a:r>
              <a:rPr lang="es-ES" dirty="0" err="1"/>
              <a:t>away</a:t>
            </a:r>
            <a:endParaRPr lang="es-ES" dirty="0"/>
          </a:p>
          <a:p>
            <a:pPr lvl="1">
              <a:buClr>
                <a:srgbClr val="8AD0D6"/>
              </a:buClr>
              <a:buFont typeface="Courier New" charset="2"/>
              <a:buChar char="o"/>
            </a:pPr>
            <a:r>
              <a:rPr lang="es-ES" dirty="0"/>
              <a:t>Max 15 </a:t>
            </a:r>
            <a:r>
              <a:rPr lang="es-ES" dirty="0" err="1"/>
              <a:t>hops</a:t>
            </a:r>
            <a:endParaRPr lang="es-ES" u="sng" dirty="0" err="1"/>
          </a:p>
          <a:p>
            <a:pPr>
              <a:buClr>
                <a:srgbClr val="8AD0D6"/>
              </a:buClr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3749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Ion</vt:lpstr>
      <vt:lpstr>Cisco Packet Tracer</vt:lpstr>
      <vt:lpstr>Table of Contents</vt:lpstr>
      <vt:lpstr>Purpose of this Workshop</vt:lpstr>
      <vt:lpstr>Connection to CAN</vt:lpstr>
      <vt:lpstr>What is Cisco Packet Tracer ?</vt:lpstr>
      <vt:lpstr>Why Cisco Packet Tracer?</vt:lpstr>
      <vt:lpstr>Network hardware</vt:lpstr>
      <vt:lpstr>Transmission media</vt:lpstr>
      <vt:lpstr>Common Physical Topologies</vt:lpstr>
      <vt:lpstr>LAN vs WAN</vt:lpstr>
      <vt:lpstr>OSI model</vt:lpstr>
      <vt:lpstr>Address Resolution Protocol (ARP)</vt:lpstr>
      <vt:lpstr>Routing Information Protocol (RIP)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35</cp:revision>
  <dcterms:created xsi:type="dcterms:W3CDTF">2025-10-01T09:09:03Z</dcterms:created>
  <dcterms:modified xsi:type="dcterms:W3CDTF">2025-11-15T14:06:29Z</dcterms:modified>
</cp:coreProperties>
</file>